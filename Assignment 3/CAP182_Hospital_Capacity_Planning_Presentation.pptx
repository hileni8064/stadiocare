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9691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307-4195-9A4F-284C162DAE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t"/>
        <c:majorGridlines/>
        <c:title>
          <c:tx>
            <c:rich>
              <a:bodyPr/>
              <a:lstStyle/>
              <a:p>
                <a:r>
                  <a:rPr lang="en-US"/>
                  <a:t>Accuracy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103120" cy="210312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2103120"/>
            <a:ext cx="1280160" cy="1280160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3383280"/>
            <a:ext cx="914400" cy="914400"/>
          </a:xfrm>
          <a:prstGeom prst="ellipse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400" b="1">
                <a:solidFill>
                  <a:srgbClr val="89E2DB"/>
                </a:solidFill>
                <a:latin typeface="Aptos"/>
              </a:rPr>
              <a:t>CAP182  | 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772400" cy="24231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Hospital Capacity
Planning with
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160520"/>
            <a:ext cx="7040880" cy="7772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900" b="0" dirty="0">
                <a:solidFill>
                  <a:srgbClr val="DCE7F0"/>
                </a:solidFill>
                <a:latin typeface="Aptos"/>
              </a:rPr>
              <a:t>Predicting ICU admission risk to support more proactive
hospital capacity and resource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89320"/>
            <a:ext cx="5943600" cy="24622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300" b="0" dirty="0">
                <a:solidFill>
                  <a:srgbClr val="BECFDC"/>
                </a:solidFill>
                <a:latin typeface="Aptos"/>
              </a:rPr>
              <a:t>Presented by </a:t>
            </a:r>
            <a:r>
              <a:rPr lang="en-US" sz="1300" dirty="0" err="1" smtClean="0">
                <a:solidFill>
                  <a:srgbClr val="BECFDC"/>
                </a:solidFill>
                <a:latin typeface="Aptos"/>
              </a:rPr>
              <a:t>Hileni</a:t>
            </a:r>
            <a:r>
              <a:rPr lang="en-US" sz="1300" dirty="0" smtClean="0">
                <a:solidFill>
                  <a:srgbClr val="BECFDC"/>
                </a:solidFill>
                <a:latin typeface="Aptos"/>
              </a:rPr>
              <a:t> Metaramo</a:t>
            </a:r>
            <a:r>
              <a:rPr sz="1300" b="0" dirty="0" smtClean="0">
                <a:solidFill>
                  <a:srgbClr val="BECFDC"/>
                </a:solidFill>
                <a:latin typeface="Aptos"/>
              </a:rPr>
              <a:t>  </a:t>
            </a:r>
            <a:r>
              <a:rPr sz="1300" b="0" dirty="0">
                <a:solidFill>
                  <a:srgbClr val="BECFDC"/>
                </a:solidFill>
                <a:latin typeface="Aptos"/>
              </a:rPr>
              <a:t>•  October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The capacity-planning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69848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200" b="1">
                <a:solidFill>
                  <a:srgbClr val="12263F"/>
                </a:solidFill>
                <a:latin typeface="Aptos"/>
              </a:rPr>
              <a:t>Uncertain patient demand makes it difficult to plan beds, staff and resources ahead of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58568"/>
            <a:ext cx="64008" cy="17465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Overcrowding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70632"/>
            <a:ext cx="306324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Demand spikes can put pressure on available beds and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258568"/>
            <a:ext cx="64008" cy="174650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Longer waits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70632"/>
            <a:ext cx="306324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Capacity pressure can contribute to delays and a poorer patient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58568"/>
            <a:ext cx="64008" cy="1746504"/>
          </a:xfrm>
          <a:prstGeom prst="rect">
            <a:avLst/>
          </a:prstGeom>
          <a:solidFill>
            <a:srgbClr val="C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31343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Higher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70632"/>
            <a:ext cx="306324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Reactive staffing and resource allocation can increase operating costs.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37160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09691"/>
                </a:solidFill>
                <a:latin typeface="Aptos"/>
              </a:rPr>
              <a:t>Project 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515600" cy="6858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 dirty="0">
                <a:solidFill>
                  <a:srgbClr val="283542"/>
                </a:solidFill>
                <a:latin typeface="Aptos"/>
              </a:rPr>
              <a:t>Use machine learning to predict ICU admission risk and provide an additional signal for capacity planning.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Data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27048"/>
            <a:ext cx="2112263" cy="47548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009691"/>
                </a:solidFill>
                <a:latin typeface="Aptos"/>
              </a:rPr>
              <a:t>~5,200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2112263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667482"/>
                </a:solidFill>
                <a:latin typeface="Aptos"/>
              </a:rPr>
              <a:t>STADIOcare patient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527048"/>
            <a:ext cx="2112263" cy="47548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EC9748"/>
                </a:solidFill>
                <a:latin typeface="Aptos"/>
              </a:rP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075688"/>
            <a:ext cx="2112263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667482"/>
                </a:solidFill>
                <a:latin typeface="Aptos"/>
              </a:rPr>
              <a:t>Patients requiring ICU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527048"/>
            <a:ext cx="2112263" cy="47548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4678B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075688"/>
            <a:ext cx="2112263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667482"/>
                </a:solidFill>
                <a:latin typeface="Aptos"/>
              </a:rPr>
              <a:t>Data sources referenced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41732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50807" y="1527048"/>
            <a:ext cx="2112263" cy="47548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12263F"/>
                </a:solidFill>
                <a:latin typeface="Aptos"/>
              </a:rPr>
              <a:t>Mixed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7" y="2075688"/>
            <a:ext cx="2112263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667482"/>
                </a:solidFill>
                <a:latin typeface="Aptos"/>
              </a:rPr>
              <a:t>Clinical feature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154680"/>
            <a:ext cx="4983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3264408"/>
            <a:ext cx="64008" cy="170078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3319272"/>
            <a:ext cx="461772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STADIOcare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776472"/>
            <a:ext cx="4617720" cy="11704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Primary dataset described in the presentation script; around 5,200 patient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54680"/>
            <a:ext cx="4983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264408"/>
            <a:ext cx="64008" cy="170078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7" y="3319272"/>
            <a:ext cx="461772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MIMIC-III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776472"/>
            <a:ext cx="4617720" cy="11704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Public ICU dataset referenced as a source of supplementary insights.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996696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667482"/>
                </a:solidFill>
                <a:latin typeface="Aptos"/>
              </a:rPr>
              <a:t>Example features: age, vital signs and comorbidities.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Preparing data for modelling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64008" cy="12893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47091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01  Handle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39112"/>
            <a:ext cx="4709159" cy="7589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Identify and treat incomplete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527048"/>
            <a:ext cx="64008" cy="128930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581912"/>
            <a:ext cx="47091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02  Encode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039112"/>
            <a:ext cx="4709159" cy="7589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Convert categorical variables into model-ready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538728"/>
            <a:ext cx="64008" cy="128930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593592"/>
            <a:ext cx="47091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03  Scale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050791"/>
            <a:ext cx="4709159" cy="7589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Apply scaling where appropriate for the selected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290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538728"/>
            <a:ext cx="64008" cy="1289304"/>
          </a:xfrm>
          <a:prstGeom prst="rect">
            <a:avLst/>
          </a:prstGeom>
          <a:solidFill>
            <a:srgbClr val="C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3593592"/>
            <a:ext cx="4709159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04  Engineer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050791"/>
            <a:ext cx="4709159" cy="7589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Create ratios and interaction terms to capture patterns.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Exploratory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64008" cy="316382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301752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Class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39112"/>
            <a:ext cx="3017520" cy="2633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83542"/>
                </a:solidFill>
                <a:latin typeface="Aptos"/>
              </a:rPr>
              <a:t>The script reports that about 18% of patients required ICU admission. Accuracy alone may hide missed ICU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27048"/>
            <a:ext cx="64008" cy="316382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01752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17520" cy="2633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83542"/>
                </a:solidFill>
                <a:latin typeface="Aptos"/>
              </a:rPr>
              <a:t>A correlation heatmap was used to explore relationships between vital signs and ICU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527048"/>
            <a:ext cx="64008" cy="316382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581912"/>
            <a:ext cx="301752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Model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017520" cy="2633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83542"/>
                </a:solidFill>
                <a:latin typeface="Aptos"/>
              </a:rPr>
              <a:t>Feature selection and evaluation should account for the minority ICU class and the cost of false negatives.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424160" cy="27699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 dirty="0" smtClean="0">
                <a:solidFill>
                  <a:srgbClr val="667482"/>
                </a:solidFill>
                <a:latin typeface="Aptos"/>
              </a:rPr>
              <a:t>.</a:t>
            </a:r>
            <a:endParaRPr sz="1500" b="0" dirty="0">
              <a:solidFill>
                <a:srgbClr val="667482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50292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18488"/>
            <a:ext cx="64008" cy="28895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73351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2263F"/>
                </a:solidFill>
                <a:latin typeface="Aptos"/>
              </a:rPr>
              <a:t>Logistic Regression  | 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30552"/>
            <a:ext cx="4663440" cy="2359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0">
                <a:solidFill>
                  <a:srgbClr val="283542"/>
                </a:solidFill>
                <a:latin typeface="Aptos"/>
              </a:rPr>
              <a:t>• Simple and interpretable
• Provides a reference point for comparison
• Reported validation accuracy: 72%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0292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18488"/>
            <a:ext cx="64008" cy="288950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673351"/>
            <a:ext cx="46634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2263F"/>
                </a:solidFill>
                <a:latin typeface="Aptos"/>
              </a:rPr>
              <a:t>Random Forest  |  Selected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30552"/>
            <a:ext cx="4663440" cy="2359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0">
                <a:solidFill>
                  <a:srgbClr val="283542"/>
                </a:solidFill>
                <a:latin typeface="Aptos"/>
              </a:rPr>
              <a:t>• Ensemble of decision trees
• Captures nonlinear relationships
• Script specifies 200 trees
• Reported validation accuracy: 84%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457200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Reported validation accuracy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691640"/>
          <a:ext cx="66751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8288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938528"/>
            <a:ext cx="64008" cy="170078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99339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Accuracy difference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450592"/>
            <a:ext cx="3063240" cy="11704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83542"/>
                </a:solidFill>
                <a:latin typeface="Aptos"/>
              </a:rPr>
              <a:t>+12 percentage points for Random Forest in the reported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160520"/>
            <a:ext cx="3383280" cy="1325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The script also reports improvements in precision, recall, F1 and ROC-AUC. Add the exact metric values from the notebook if available.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Reading the model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27048"/>
            <a:ext cx="64008" cy="17465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Confusion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310896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Shows correct and incorrect predictions by class. Pay particular attention to missed ICU admissions.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27048"/>
            <a:ext cx="64008" cy="174650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ROC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10896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Summarises the trade-off between true-positive and false-positive rates across thresholds.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27048"/>
            <a:ext cx="64008" cy="174650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Feature importance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10896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83542"/>
                </a:solidFill>
                <a:latin typeface="Aptos"/>
              </a:rPr>
              <a:t>Ranks features that contribute to Random Forest predictions; it does not prove causation.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0690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178808"/>
            <a:ext cx="3072384" cy="47548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009691"/>
                </a:solidFill>
                <a:latin typeface="Aptos"/>
              </a:rPr>
              <a:t>0.88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727448"/>
            <a:ext cx="3072384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667482"/>
                </a:solidFill>
                <a:latin typeface="Aptos"/>
              </a:rPr>
              <a:t>Reported ROC-AUC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280160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389888"/>
            <a:ext cx="64008" cy="64922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444751"/>
            <a:ext cx="1001268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Tune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01952"/>
            <a:ext cx="10012680" cy="1188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83542"/>
                </a:solidFill>
                <a:latin typeface="Aptos"/>
              </a:rPr>
              <a:t>Test tree depth, minimum samples per leaf and class weighting.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95728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505456"/>
            <a:ext cx="64008" cy="64922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560320"/>
            <a:ext cx="1001268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Validate robustly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017520"/>
            <a:ext cx="10012680" cy="1188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83542"/>
                </a:solidFill>
                <a:latin typeface="Aptos"/>
              </a:rPr>
              <a:t>Use cross-validation and report precision, recall, F1 and ROC-AUC.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11296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621024"/>
            <a:ext cx="64008" cy="64922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675887"/>
            <a:ext cx="1001268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Add time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133087"/>
            <a:ext cx="10012680" cy="1188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83542"/>
                </a:solidFill>
                <a:latin typeface="Aptos"/>
              </a:rPr>
              <a:t>Explore temporal features and time-series forecasting for demand.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626864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4736592"/>
            <a:ext cx="64008" cy="649224"/>
          </a:xfrm>
          <a:prstGeom prst="rect">
            <a:avLst/>
          </a:prstGeom>
          <a:solidFill>
            <a:srgbClr val="C3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4791456"/>
            <a:ext cx="1001268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Monitor after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248656"/>
            <a:ext cx="10012680" cy="1188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83542"/>
                </a:solidFill>
                <a:latin typeface="Aptos"/>
              </a:rPr>
              <a:t>Track drift, performance and operational usefulness over 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2263F"/>
                </a:solidFill>
                <a:latin typeface="Aptos"/>
              </a:rPr>
              <a:t>Potential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777240" cy="5486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393192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1">
                <a:solidFill>
                  <a:srgbClr val="009691"/>
                </a:solidFill>
                <a:latin typeface="Aptos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67482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64008" cy="22037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Better preparedness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39112"/>
            <a:ext cx="3063240" cy="16733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0">
                <a:solidFill>
                  <a:srgbClr val="283542"/>
                </a:solidFill>
                <a:latin typeface="Aptos"/>
              </a:rPr>
              <a:t>Early risk signals could support planning discussions before pressure peaks.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27048"/>
            <a:ext cx="64008" cy="2203704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Smarter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63240" cy="16733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0">
                <a:solidFill>
                  <a:srgbClr val="283542"/>
                </a:solidFill>
                <a:latin typeface="Aptos"/>
              </a:rPr>
              <a:t>Forecasts may help teams review bed availability, staffing and resource needs.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527048"/>
            <a:ext cx="64008" cy="2203704"/>
          </a:xfrm>
          <a:prstGeom prst="rect">
            <a:avLst/>
          </a:prstGeom>
          <a:solidFill>
            <a:srgbClr val="EC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581912"/>
            <a:ext cx="306324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263F"/>
                </a:solidFill>
                <a:latin typeface="Aptos"/>
              </a:rPr>
              <a:t>Patient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063240" cy="16733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0">
                <a:solidFill>
                  <a:srgbClr val="283542"/>
                </a:solidFill>
                <a:latin typeface="Aptos"/>
              </a:rPr>
              <a:t>The long-term aim is to reduce avoidable delays and improve care coordination.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182880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C34B4B"/>
                </a:solidFill>
                <a:latin typeface="Aptos"/>
              </a:rPr>
              <a:t>Important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10515600" cy="6617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000" b="1" dirty="0">
                <a:solidFill>
                  <a:srgbClr val="12263F"/>
                </a:solidFill>
                <a:latin typeface="Aptos"/>
              </a:rPr>
              <a:t>These are potential benefits, not measured outcomes. The model </a:t>
            </a:r>
            <a:r>
              <a:rPr lang="en-US" sz="2000" b="1" dirty="0" smtClean="0">
                <a:solidFill>
                  <a:srgbClr val="12263F"/>
                </a:solidFill>
                <a:latin typeface="Aptos"/>
              </a:rPr>
              <a:t>will </a:t>
            </a:r>
            <a:r>
              <a:rPr sz="2000" b="1" dirty="0" smtClean="0">
                <a:solidFill>
                  <a:srgbClr val="12263F"/>
                </a:solidFill>
                <a:latin typeface="Aptos"/>
              </a:rPr>
              <a:t>support</a:t>
            </a:r>
            <a:r>
              <a:rPr lang="en-US" sz="2000" b="1" dirty="0" smtClean="0">
                <a:solidFill>
                  <a:srgbClr val="12263F"/>
                </a:solidFill>
                <a:latin typeface="Aptos"/>
              </a:rPr>
              <a:t> </a:t>
            </a:r>
            <a:r>
              <a:rPr sz="2000" b="1" dirty="0" smtClean="0">
                <a:solidFill>
                  <a:srgbClr val="12263F"/>
                </a:solidFill>
                <a:latin typeface="Aptos"/>
              </a:rPr>
              <a:t>not replace</a:t>
            </a:r>
            <a:r>
              <a:rPr lang="en-US" sz="2000" b="1" dirty="0" smtClean="0">
                <a:solidFill>
                  <a:srgbClr val="12263F"/>
                </a:solidFill>
                <a:latin typeface="Aptos"/>
              </a:rPr>
              <a:t> </a:t>
            </a:r>
            <a:r>
              <a:rPr sz="2000" b="1" dirty="0" smtClean="0">
                <a:solidFill>
                  <a:srgbClr val="12263F"/>
                </a:solidFill>
                <a:latin typeface="Aptos"/>
              </a:rPr>
              <a:t>clinical </a:t>
            </a:r>
            <a:r>
              <a:rPr sz="2000" b="1" dirty="0">
                <a:solidFill>
                  <a:srgbClr val="12263F"/>
                </a:solidFill>
                <a:latin typeface="Aptos"/>
              </a:rPr>
              <a:t>judgement and operational decisions.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114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3154680" cy="1234440"/>
          </a:xfrm>
          <a:prstGeom prst="roundRect">
            <a:avLst/>
          </a:prstGeom>
          <a:solidFill>
            <a:srgbClr val="1F3A5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93392"/>
            <a:ext cx="7315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89E2DB"/>
                </a:solidFill>
                <a:latin typeface="Aptos"/>
              </a:rPr>
              <a:t>SS1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395728"/>
            <a:ext cx="278892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Literature and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154680" cy="1234440"/>
          </a:xfrm>
          <a:prstGeom prst="roundRect">
            <a:avLst/>
          </a:prstGeom>
          <a:solidFill>
            <a:srgbClr val="1F3A5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28032" y="1993392"/>
            <a:ext cx="7315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89E2DB"/>
                </a:solidFill>
                <a:latin typeface="Aptos"/>
              </a:rPr>
              <a:t>SS2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395728"/>
            <a:ext cx="278892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Methods and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828800"/>
            <a:ext cx="3154680" cy="1234440"/>
          </a:xfrm>
          <a:prstGeom prst="roundRect">
            <a:avLst/>
          </a:prstGeom>
          <a:solidFill>
            <a:srgbClr val="1F3A52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22792" y="1993392"/>
            <a:ext cx="7315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89E2DB"/>
                </a:solidFill>
                <a:latin typeface="Aptos"/>
              </a:rPr>
              <a:t>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395728"/>
            <a:ext cx="278892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Validation using client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149840" cy="8686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>
                <a:solidFill>
                  <a:srgbClr val="DCE7F0"/>
                </a:solidFill>
                <a:latin typeface="Aptos"/>
              </a:rPr>
              <a:t>Next: verify results, test with robust validation, and assess how predictions can be integrated into real-time capacity planning.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50292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200" b="1">
                <a:solidFill>
                  <a:srgbClr val="89E2DB"/>
                </a:solidFill>
                <a:latin typeface="Aptos"/>
              </a:rPr>
              <a:t>Thank you  | 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572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Amon</dc:creator>
  <cp:keywords/>
  <dc:description>generated using python-pptx</dc:description>
  <cp:lastModifiedBy>Amon</cp:lastModifiedBy>
  <cp:revision>5</cp:revision>
  <cp:lastPrinted>2026-10-25T20:03:22Z</cp:lastPrinted>
  <dcterms:created xsi:type="dcterms:W3CDTF">2013-01-27T09:14:16Z</dcterms:created>
  <dcterms:modified xsi:type="dcterms:W3CDTF">2026-10-26T19:26:02Z</dcterms:modified>
  <cp:category/>
</cp:coreProperties>
</file>